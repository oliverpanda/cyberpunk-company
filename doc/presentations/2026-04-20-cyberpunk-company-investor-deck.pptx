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面向产业投资人的合作提案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05840"/>
            <a:ext cx="56692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  <a:latin typeface="Microsoft YaHei"/>
              </a:rPr>
              <a:t>Cyberpunk Company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62179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Microsoft YaHei"/>
              </a:rPr>
              <a:t>AI 智能体公司的控制平面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49424"/>
            <a:ext cx="5943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D0D8E5"/>
                </a:solidFill>
                <a:latin typeface="Microsoft YaHei"/>
              </a:rPr>
              <a:t>不是做一个更聪明的 Agent，而是定义“AI 公司如何被创建、治理、审计、预算和扩张”的基础设施层。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5138928"/>
            <a:ext cx="3154680" cy="56692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5294376"/>
            <a:ext cx="2788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核心判断：AI 正从工具走向组织，下一层不是聊天，而是公司。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9875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08392" y="1133856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08392" y="1517904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多 company 控制平面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46920" y="987552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11512" y="1133856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Governance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11512" y="1517904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审批、审计、预算、暂停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43800" y="2212848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08392" y="2359152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Adapters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08392" y="2743200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Claude / Codex / Process / HTTP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46920" y="2212848"/>
            <a:ext cx="1874519" cy="987552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1512" y="2359152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Board UI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11512" y="2743200"/>
            <a:ext cx="15453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董事会视角的组织运营界面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" y="608990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98A5B9"/>
                </a:solidFill>
                <a:latin typeface="Microsoft YaHei"/>
              </a:rPr>
              <a:t>2026.04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Cyberpunk Company | Strategic Investor Deck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INVESTMENT LENS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这份 deck 回答产业投资人最关心的 6 个问题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我们不是先讲融资故事，而是先回答：这是不是一个值得产业方提前卡位的新基础设施。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847088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93392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1. 类别是否足够大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AI 从个人 Copilot 走向组织化劳动力，控制平面有望成为新一层基础设施。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50791" y="1847088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15383" y="1993392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2. 产品是否有边界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15383" y="2377440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我们聚焦控制平面：company、org、task、budget、approval、audit。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43216" y="1847088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07808" y="1993392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3. 为什么是现在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07808" y="2377440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模型能力、企业接受度、政策窗口与区域示范条件在 2026 年同步成熟。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3749039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895343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4. 为什么是我们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279391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从多 company、治理、适配器和预算审计出发，而不是聊天工作台出发。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50791" y="3749039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15383" y="3895343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5. 为什么是海珠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15383" y="4279391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OPC 试点、产业园区、训练营与场景政策，让海珠适合作为首个样板区。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43216" y="3749039"/>
            <a:ext cx="2971800" cy="1481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3895343"/>
            <a:ext cx="264261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6. 为什么要和产业方合作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07808" y="4279391"/>
            <a:ext cx="2642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产业投资人不只是出资，还能导入客户、场景、品牌和下一轮融资协同。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用投资判断框架组织整套叙事，而不是堆功能。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Microsoft YaHei"/>
              </a:rPr>
              <a:t>CATEGORY SHIFT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为什么这是一个新基础设施机会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3E2"/>
                </a:solidFill>
                <a:latin typeface="Microsoft YaHei"/>
              </a:rPr>
              <a:t>过去的软件在提升单个员工效率；下一阶段的软件，将直接承载 AI 劳动力的组织、治理与扩张。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201168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2157984"/>
            <a:ext cx="25511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工具时代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542032"/>
            <a:ext cx="255117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1E8F2"/>
                </a:solidFill>
                <a:latin typeface="Microsoft YaHei"/>
              </a:rPr>
              <a:t>Software for Work
核心问题：让人做得更快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03904" y="3172968"/>
            <a:ext cx="493776" cy="0"/>
          </a:xfrm>
          <a:prstGeom prst="line">
            <a:avLst/>
          </a:prstGeom>
          <a:ln w="19050">
            <a:solidFill>
              <a:srgbClr val="4A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407408" y="201168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2157984"/>
            <a:ext cx="25511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Agent 时代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542032"/>
            <a:ext cx="255117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1E8F2"/>
                </a:solidFill>
                <a:latin typeface="Microsoft YaHei"/>
              </a:rPr>
              <a:t>Software with Agents
核心问题：让 AI 帮人执行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406640" y="3172968"/>
            <a:ext cx="493776" cy="0"/>
          </a:xfrm>
          <a:prstGeom prst="line">
            <a:avLst/>
          </a:prstGeom>
          <a:ln w="19050">
            <a:solidFill>
              <a:srgbClr val="4AD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010144" y="2011680"/>
            <a:ext cx="2880360" cy="2331720"/>
          </a:xfrm>
          <a:prstGeom prst="roundRect">
            <a:avLst>
              <a:gd name="adj" fmla="val 8000"/>
            </a:avLst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74736" y="2157984"/>
            <a:ext cx="255117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公司时代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74736" y="2542032"/>
            <a:ext cx="2551176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E1E8F2"/>
                </a:solidFill>
                <a:latin typeface="Microsoft YaHei"/>
              </a:rPr>
              <a:t>Software for AI Companies
核心问题：让 AI 组织被管理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791456"/>
            <a:ext cx="10424160" cy="9509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5047488"/>
            <a:ext cx="996696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Microsoft YaHei"/>
              </a:rPr>
              <a:t>投资含义：如果“AI 公司”成为真实生产单元，那么最先形成平台价值的，不会是单一模型，也不会是单一工作流，而是控制平面。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类别定义能力，决定战略投资人的进入时点。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Cyberpunk Company 不是聊天工具，而是 AI 公司的控制平面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它把目标、组织、任务、预算、审批与审计放进同一个董事会视图。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901952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2048256"/>
            <a:ext cx="1664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432304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董事会定义目标、审批关键动作、查看预算与运营状态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00400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3346704"/>
            <a:ext cx="1664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Company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730752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company 是一等对象，承接目标、预算、组织与审计边界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4498848"/>
            <a:ext cx="1993392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" y="4645152"/>
            <a:ext cx="166420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Agents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5029200"/>
            <a:ext cx="1664208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不同适配器驱动的 AI 员工在外部执行、向控制平面回报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1901952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22192" y="2048256"/>
            <a:ext cx="19110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Tasks + Comments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2192" y="2432304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所有工作通过任务与评论追踪，可回溯到公司目标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3200400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2" y="3346704"/>
            <a:ext cx="19110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Budget +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22192" y="3730752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预算硬上限、成本事件与 burn rate 可见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4498848"/>
            <a:ext cx="2240280" cy="102412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2192" y="4645152"/>
            <a:ext cx="191109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Approvals +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22192" y="5029200"/>
            <a:ext cx="191109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关键动作审批、修改行为 activity log 全量记录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48272" y="1901952"/>
            <a:ext cx="4617720" cy="3913632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0" y="2121408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ADEFF"/>
                </a:solidFill>
                <a:latin typeface="Microsoft YaHei"/>
              </a:rPr>
              <a:t>控制闭环</a:t>
            </a:r>
          </a:p>
        </p:txBody>
      </p:sp>
      <p:sp>
        <p:nvSpPr>
          <p:cNvPr id="26" name="Oval 25"/>
          <p:cNvSpPr/>
          <p:nvPr/>
        </p:nvSpPr>
        <p:spPr>
          <a:xfrm>
            <a:off x="7077456" y="2560320"/>
            <a:ext cx="384048" cy="384048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05472" y="2633472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560320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1. 定义目标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2779776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C9D0DC"/>
                </a:solidFill>
                <a:latin typeface="Microsoft YaHei"/>
              </a:rPr>
              <a:t>公司目标、组织结构、预算上线</a:t>
            </a:r>
          </a:p>
        </p:txBody>
      </p:sp>
      <p:sp>
        <p:nvSpPr>
          <p:cNvPr id="30" name="Oval 29"/>
          <p:cNvSpPr/>
          <p:nvPr/>
        </p:nvSpPr>
        <p:spPr>
          <a:xfrm>
            <a:off x="7077456" y="3328415"/>
            <a:ext cx="384048" cy="384048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3401567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3328415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2. 编排工作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20" y="3547871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C9D0DC"/>
                </a:solidFill>
                <a:latin typeface="Microsoft YaHei"/>
              </a:rPr>
              <a:t>任务分配、issue checkout、状态追踪</a:t>
            </a:r>
          </a:p>
        </p:txBody>
      </p:sp>
      <p:sp>
        <p:nvSpPr>
          <p:cNvPr id="34" name="Oval 33"/>
          <p:cNvSpPr/>
          <p:nvPr/>
        </p:nvSpPr>
        <p:spPr>
          <a:xfrm>
            <a:off x="7077456" y="4096511"/>
            <a:ext cx="384048" cy="384048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05472" y="4169663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20" y="4096511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3. 接收回报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315967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C9D0DC"/>
                </a:solidFill>
                <a:latin typeface="Microsoft YaHei"/>
              </a:rPr>
              <a:t>heartbeat、成本、结果、异常</a:t>
            </a:r>
          </a:p>
        </p:txBody>
      </p:sp>
      <p:sp>
        <p:nvSpPr>
          <p:cNvPr id="38" name="Oval 37"/>
          <p:cNvSpPr/>
          <p:nvPr/>
        </p:nvSpPr>
        <p:spPr>
          <a:xfrm>
            <a:off x="7077456" y="4864608"/>
            <a:ext cx="384048" cy="384048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05472" y="4937760"/>
            <a:ext cx="91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864608"/>
            <a:ext cx="1645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Microsoft YaHei"/>
              </a:rPr>
              <a:t>4. 人类介入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5084064"/>
            <a:ext cx="33832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C9D0DC"/>
                </a:solidFill>
                <a:latin typeface="Microsoft YaHei"/>
              </a:rPr>
              <a:t>审批、暂停、覆盖决策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控制平面的价值，在于把自治变成可治理的自治。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V1 已经具备的核心能力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这不是纯概念 deck。当前实现目标已经覆盖 company、agents、issues、approvals、budget 和审计闭环。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8288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9751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多 company 架构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3591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所有业务实体保持 company 作用域，支持在同一控制平面下运行多家公司。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8288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9751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单一 assignee 任务模型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3591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任务 checkout 原子化，避免多 agent 抢占造成状态污染。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59" y="18288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1" y="19751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Heartbeat 编排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1" y="23591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支持 scheduler / manual / callback，跟踪 run 状态与异常。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6576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8039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预算与成本事件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41879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agent / issue / project / company 维度可追踪，硬上限触发自动暂停。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25696" y="36576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90288" y="38039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审批门禁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90288" y="41879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招聘与 CEO 战略提案等关键动作可进入审批流。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38159" y="3657600"/>
            <a:ext cx="3063240" cy="142646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2751" y="3803904"/>
            <a:ext cx="273405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活动日志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1" y="4187952"/>
            <a:ext cx="2734056" cy="768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所有修改操作写 activity log，形成董事会级审计可见性。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13232" y="5760720"/>
            <a:ext cx="10469880" cy="493776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925312"/>
            <a:ext cx="100584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核心信号：我们从第一天就按“可治理 AI 公司”来设计，而不是在 Agent 工具上事后补 governance。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投资人会看执行边界与架构选择是否自洽。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Microsoft YaHei"/>
              </a:rPr>
              <a:t>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真正的护城河，不是模型能力，而是组织与治理能力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3E2"/>
                </a:solidFill>
                <a:latin typeface="Microsoft YaHei"/>
              </a:rPr>
              <a:t>模型会趋同，工作流会被复制，但“让 AI 组织在真实公司里安全、可审计、可预算地运作”会越来越稀缺。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" y="1883664"/>
            <a:ext cx="10515600" cy="3547872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214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FF"/>
                </a:solidFill>
                <a:latin typeface="Microsoft YaHei"/>
              </a:rPr>
              <a:t>能力维度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21214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FF"/>
                </a:solidFill>
                <a:latin typeface="Microsoft YaHei"/>
              </a:rPr>
              <a:t>普通 Agent 工作台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70064" y="2121408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4ADEFF"/>
                </a:solidFill>
                <a:latin typeface="Microsoft YaHei"/>
              </a:rPr>
              <a:t>Cyberpunk Company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" y="2450592"/>
            <a:ext cx="10003536" cy="420624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05456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组织边界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505456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FDC"/>
                </a:solidFill>
                <a:latin typeface="Microsoft YaHei"/>
              </a:rPr>
              <a:t>围绕单用户或单会话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0064" y="2505456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围绕 company / org / board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2980944"/>
            <a:ext cx="10003536" cy="42062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035808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治理能力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3035808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FDC"/>
                </a:solidFill>
                <a:latin typeface="Microsoft YaHei"/>
              </a:rPr>
              <a:t>弱审批、弱暂停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3035808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审批门禁、预算硬上限、活动日志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32688" y="3511296"/>
            <a:ext cx="10003536" cy="420624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3566160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任务模型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3566160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FDC"/>
                </a:solidFill>
                <a:latin typeface="Microsoft YaHei"/>
              </a:rPr>
              <a:t>偏聊天或临时线程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0064" y="356616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可追溯到公司目标的 issue 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32688" y="4041648"/>
            <a:ext cx="10003536" cy="420624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4096512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运行方式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4096512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FDC"/>
                </a:solidFill>
                <a:latin typeface="Microsoft YaHei"/>
              </a:rPr>
              <a:t>通常绑定单运行时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0064" y="409651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process / http 适配器，可接多类 agent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4572000"/>
            <a:ext cx="10003536" cy="420624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4626864"/>
            <a:ext cx="23317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扩张方式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4626864"/>
            <a:ext cx="3063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C7CFDC"/>
                </a:solidFill>
                <a:latin typeface="Microsoft YaHei"/>
              </a:rPr>
              <a:t>加更多 prompt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626864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FFFFFF"/>
                </a:solidFill>
                <a:latin typeface="Microsoft YaHei"/>
              </a:rPr>
              <a:t>加更多公司、部门、角色与场景模板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如果投资标的是基础设施，治理与组织抽象比模型切换更关键。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TIMING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为什么是现在：2026 是“AI 公司基础设施”第一次具备落地条件的时间点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技术、需求与政策三个时钟第一次开始对齐。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14400" y="3438144"/>
            <a:ext cx="9646920" cy="0"/>
          </a:xfrm>
          <a:prstGeom prst="line">
            <a:avLst/>
          </a:prstGeom>
          <a:ln w="19050">
            <a:solidFill>
              <a:srgbClr val="D7DD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914400" y="3154680"/>
            <a:ext cx="548640" cy="548640"/>
          </a:xfrm>
          <a:prstGeom prst="ellipse">
            <a:avLst/>
          </a:prstGeom>
          <a:solidFill>
            <a:srgbClr val="121826"/>
          </a:solidFill>
          <a:ln>
            <a:solidFill>
              <a:srgbClr val="121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3957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 i="0">
                <a:solidFill>
                  <a:srgbClr val="131C2A"/>
                </a:solidFill>
                <a:latin typeface="Microsoft YaHei"/>
              </a:rPr>
              <a:t>2024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27632" y="281635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1C2A"/>
                </a:solidFill>
                <a:latin typeface="Microsoft YaHei"/>
              </a:rPr>
              <a:t>模型成为可靠生产力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7632" y="309067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606A7D"/>
                </a:solidFill>
                <a:latin typeface="Microsoft YaHei"/>
              </a:rPr>
              <a:t>AI 开始承接真实文本、研发、营销与运营任务</a:t>
            </a:r>
          </a:p>
        </p:txBody>
      </p:sp>
      <p:sp>
        <p:nvSpPr>
          <p:cNvPr id="11" name="Oval 10"/>
          <p:cNvSpPr/>
          <p:nvPr/>
        </p:nvSpPr>
        <p:spPr>
          <a:xfrm>
            <a:off x="3383280" y="3154680"/>
            <a:ext cx="548640" cy="548640"/>
          </a:xfrm>
          <a:prstGeom prst="ellipse">
            <a:avLst/>
          </a:prstGeom>
          <a:solidFill>
            <a:srgbClr val="2EC4B6"/>
          </a:solidFill>
          <a:ln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23957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 i="0">
                <a:solidFill>
                  <a:srgbClr val="131C2A"/>
                </a:solidFill>
                <a:latin typeface="Microsoft YaHei"/>
              </a:rPr>
              <a:t>2025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96512" y="281635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1C2A"/>
                </a:solidFill>
                <a:latin typeface="Microsoft YaHei"/>
              </a:rPr>
              <a:t>企业开始试运行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96512" y="309067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606A7D"/>
                </a:solidFill>
                <a:latin typeface="Microsoft YaHei"/>
              </a:rPr>
              <a:t>从“试用工具”转向“试运行 AI 员工/小团队”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0" y="3154680"/>
            <a:ext cx="548640" cy="548640"/>
          </a:xfrm>
          <a:prstGeom prst="ellipse">
            <a:avLst/>
          </a:prstGeom>
          <a:solidFill>
            <a:srgbClr val="FF6F61"/>
          </a:solidFill>
          <a:ln>
            <a:solidFill>
              <a:srgbClr val="FF6F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33872" y="23957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 i="0">
                <a:solidFill>
                  <a:srgbClr val="131C2A"/>
                </a:solidFill>
                <a:latin typeface="Microsoft YaHei"/>
              </a:rPr>
              <a:t>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5392" y="281635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1C2A"/>
                </a:solidFill>
                <a:latin typeface="Microsoft YaHei"/>
              </a:rPr>
              <a:t>组织化治理成为刚需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309067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606A7D"/>
                </a:solidFill>
                <a:latin typeface="Microsoft YaHei"/>
              </a:rPr>
              <a:t>预算、审批、审计、任务追踪开始成为决定成败的约束</a:t>
            </a:r>
          </a:p>
        </p:txBody>
      </p:sp>
      <p:sp>
        <p:nvSpPr>
          <p:cNvPr id="19" name="Oval 18"/>
          <p:cNvSpPr/>
          <p:nvPr/>
        </p:nvSpPr>
        <p:spPr>
          <a:xfrm>
            <a:off x="8321040" y="3154680"/>
            <a:ext cx="548640" cy="548640"/>
          </a:xfrm>
          <a:prstGeom prst="ellipse">
            <a:avLst/>
          </a:prstGeom>
          <a:solidFill>
            <a:srgbClr val="ABA3FF"/>
          </a:solidFill>
          <a:ln>
            <a:solidFill>
              <a:srgbClr val="ABA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2752" y="2395728"/>
            <a:ext cx="65836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0" b="1" i="0">
                <a:solidFill>
                  <a:srgbClr val="131C2A"/>
                </a:solidFill>
                <a:latin typeface="Microsoft YaHei"/>
              </a:rPr>
              <a:t>下一步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272" y="2816352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131C2A"/>
                </a:solidFill>
                <a:latin typeface="Microsoft YaHei"/>
              </a:rPr>
              <a:t>从单点提效走向 AI 公司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3090672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 i="0">
                <a:solidFill>
                  <a:srgbClr val="606A7D"/>
                </a:solidFill>
                <a:latin typeface="Microsoft YaHei"/>
              </a:rPr>
              <a:t>控制平面会成为规模化部署的基础设施层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6112" y="5120640"/>
            <a:ext cx="10195560" cy="566928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321808"/>
            <a:ext cx="9875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131C2A"/>
                </a:solidFill>
                <a:latin typeface="Microsoft YaHei"/>
              </a:rPr>
              <a:t>换句话说：过去两年大家在试 Agent，接下来两年真正形成平台价值的，是谁能把 Agent 组织起来。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战略投资不是追逐功能，而是卡位下一层结构。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POLICY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广东与海珠，正在提供一个足够真实的政策与区域窗口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这不是把补贴当商业模式，而是把政策、园区、培训和场景整合成首个样板区的加速器。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4882896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省级行动方案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5537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广东省 2026 年 3 月发布 OPC 行动方案；海珠同月发布 OPC 创新发展十条。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28800"/>
            <a:ext cx="4882896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75104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园区与孵化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59152"/>
            <a:ext cx="45537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海珠已推动 OPC 社区孵化，优质项目可直通琶洲模方等生态空间，最长 12 个月工位全免。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493008"/>
            <a:ext cx="4882896" cy="1298448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39312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场景与算力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23360"/>
            <a:ext cx="45537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算力补贴 50% 且年上限 20 万元；数据补贴 30% 且年上限 10 万元；优质场景支持最高 500 万元。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493008"/>
            <a:ext cx="4882896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639312"/>
            <a:ext cx="455371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备案与便利化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023360"/>
            <a:ext cx="45537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生成式 AI 线上备案最高支持 100 万元；算法/深度合成备案最高支持 20 万元；AI OPC 专窗最快半天办结。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76672"/>
            <a:ext cx="10387584" cy="65836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5596128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40" b="1" i="0">
                <a:solidFill>
                  <a:srgbClr val="FFFFFF"/>
                </a:solidFill>
                <a:latin typeface="Microsoft YaHei"/>
              </a:rPr>
              <a:t>对投资人的真正意义：海珠提供的不是单个补贴项，而是“政策窗口 + 园区承接 + 培训落地 + 产业场景”四位一体的试验场。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来源：海珠区政府相关公告（post_10736834 / mpost_10765347）；一次性创业资助等通用事项按当期政策执行。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Microsoft YaHei"/>
              </a:rPr>
              <a:t>HAIZHU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海珠样板区的落地逻辑：园区、培训、公司创建、场景试点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3E2"/>
                </a:solidFill>
                <a:latin typeface="Microsoft YaHei"/>
              </a:rPr>
              <a:t>我们建议把海珠做成“AI 公司控制平面”的首个区域级 showcase，而不是单个 demo 客户。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50976" y="1828800"/>
            <a:ext cx="749808" cy="42062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0704" y="192024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01 园区承接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088" y="1810512"/>
            <a:ext cx="8851392" cy="4937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66543" y="1920240"/>
            <a:ext cx="8394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DBE2EB"/>
                </a:solidFill>
                <a:latin typeface="Microsoft YaHei"/>
              </a:rPr>
              <a:t>在产业园/孵化器内设置 AI 公司创建入口，降低项目落户与初始部署门槛。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" y="2578608"/>
            <a:ext cx="749808" cy="42062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60704" y="2670048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02 培训 OPC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47088" y="2560320"/>
            <a:ext cx="8851392" cy="4937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3" y="2670048"/>
            <a:ext cx="8394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DBE2EB"/>
                </a:solidFill>
                <a:latin typeface="Microsoft YaHei"/>
              </a:rPr>
              <a:t>围绕超级个体、一人公司、AI 团队管理开展训练营，把使用门槛从技术转成运营。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" y="3328415"/>
            <a:ext cx="749808" cy="42062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0704" y="3419855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03 控制平面部署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47088" y="3310127"/>
            <a:ext cx="8851392" cy="4937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66543" y="3419855"/>
            <a:ext cx="8394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DBE2EB"/>
                </a:solidFill>
                <a:latin typeface="Microsoft YaHei"/>
              </a:rPr>
              <a:t>用 Cyberpunk Company 统一承接 goal、org、task、budget、approval 与 activity log。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50976" y="4078224"/>
            <a:ext cx="749808" cy="42062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169664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04 场景试点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47088" y="4059936"/>
            <a:ext cx="8851392" cy="4937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66543" y="4169664"/>
            <a:ext cx="8394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DBE2EB"/>
                </a:solidFill>
                <a:latin typeface="Microsoft YaHei"/>
              </a:rPr>
              <a:t>优先切入营销、内容、出海、企业服务等高频、低物理约束场景。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" y="4828031"/>
            <a:ext cx="749808" cy="420624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4919471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05 样板复制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47088" y="4809743"/>
            <a:ext cx="8851392" cy="493776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66543" y="4919471"/>
            <a:ext cx="83941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 i="0">
                <a:solidFill>
                  <a:srgbClr val="DBE2EB"/>
                </a:solidFill>
                <a:latin typeface="Microsoft YaHei"/>
              </a:rPr>
              <a:t>形成海珠样板后，复制到合作园区、被投企业和产业联盟。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从政策承接走向产业标准，关键在于把“项目入驻”变成“公司可运营”。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BEACHHEADS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优先切入的 4 个产业场景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共同点：需要多个 AI 角色协作，需要预算与审批，需要输出可交付结果，而不是只需要一段对话。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47088"/>
            <a:ext cx="49011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9339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数字营销与投放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77440"/>
            <a:ext cx="4572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CMO / 研究 / 创意 / 投手协作，适合任务分层与目标回溯。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847088"/>
            <a:ext cx="4901184" cy="13258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19088" y="1993392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短剧与内容工业化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2377440"/>
            <a:ext cx="4572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选题、脚本、素材、分发与复盘可以由 AI 团队协同推进。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3511296"/>
            <a:ext cx="4901184" cy="1325880"/>
          </a:xfrm>
          <a:prstGeom prst="roundRect">
            <a:avLst>
              <a:gd name="adj" fmla="val 8000"/>
            </a:avLst>
          </a:prstGeom>
          <a:solidFill>
            <a:srgbClr val="EDF1F7"/>
          </a:solidFill>
          <a:ln>
            <a:solidFill>
              <a:srgbClr val="ED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65760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跨境电商与出海运营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041648"/>
            <a:ext cx="4572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商品、客服、广告、渠道和数据分析天然需要多角色编排。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54496" y="3511296"/>
            <a:ext cx="4901184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657600"/>
            <a:ext cx="45720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企业服务交付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041648"/>
            <a:ext cx="4572000" cy="6675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售前、方案、项目管理、文档产出、客户成功适合被“AI 公司”重构。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9808" y="5394960"/>
            <a:ext cx="10387584" cy="621792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9264" y="5596128"/>
            <a:ext cx="9966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131C2A"/>
                </a:solidFill>
                <a:latin typeface="Microsoft YaHei"/>
              </a:rPr>
              <a:t>这些场景不是终局，而是进入产业的桥头堡。真正的平台价值，来自把这些案例统一收束为“AI 公司控制平面”类别。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先从高频知识型场景跑通，再向更复杂行业复制。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STRATEGIC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为什么产业投资方是最佳合作伙伴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对这类项目来说，产业方的价值远大于财务资金：它决定了我们能否快速形成区域样板与客户飞轮。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8" y="1828800"/>
            <a:ext cx="400507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3675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客户与渠道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3675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导入园区企业、被投企业、上下游伙伴，形成首批 company 用户。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8" y="3090672"/>
            <a:ext cx="400507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36976"/>
            <a:ext cx="3675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落地与场景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21024"/>
            <a:ext cx="3675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提供真实业务约束，让控制平面不是停留在 demo，而是进入业务流程。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352544"/>
            <a:ext cx="400507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498848"/>
            <a:ext cx="3675888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131C2A"/>
                </a:solidFill>
                <a:latin typeface="Microsoft YaHei"/>
              </a:rPr>
              <a:t>品牌与资本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82896"/>
            <a:ext cx="3675888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606A7D"/>
                </a:solidFill>
                <a:latin typeface="Microsoft YaHei"/>
              </a:rPr>
              <a:t>联合发布、区域标杆、品牌背书，以及下一轮继续支持。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38928" y="1828800"/>
            <a:ext cx="5870448" cy="376732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68112" y="2157984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ADEFF"/>
                </a:solidFill>
                <a:latin typeface="Microsoft YaHei"/>
              </a:rPr>
              <a:t>投资方带来的资源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7" y="2157984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渠道 / 客户 / 园区 / 品牌 / 投后协同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68112" y="3145536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ADEFF"/>
                </a:solidFill>
                <a:latin typeface="Microsoft YaHei"/>
              </a:rPr>
              <a:t>Cyberpunk 带来的能力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7" y="3145536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公司创建、治理、预算、审计与多 Agent 编排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68112" y="4133087"/>
            <a:ext cx="175564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i="0">
                <a:solidFill>
                  <a:srgbClr val="4ADEFF"/>
                </a:solidFill>
                <a:latin typeface="Microsoft YaHei"/>
              </a:rPr>
              <a:t>合作后形成的产物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4133087"/>
            <a:ext cx="3072384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Microsoft YaHei"/>
              </a:rPr>
              <a:t>行业样板区、联合方案、可复制的 company 模板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68112" y="4736592"/>
            <a:ext cx="5084064" cy="512064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687568" y="4901184"/>
            <a:ext cx="460857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1" i="0">
                <a:solidFill>
                  <a:srgbClr val="FFFFFF"/>
                </a:solidFill>
                <a:latin typeface="Microsoft YaHei"/>
              </a:rPr>
              <a:t>本质上，这是“投平台 + 投落地 + 投区域示范”的复合机会。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我们希望得到的不只是资本，而是协同能力。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Microsoft YaHei"/>
              </a:rPr>
              <a:t>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商业化路径与合作方式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3E2"/>
                </a:solidFill>
                <a:latin typeface="Microsoft YaHei"/>
              </a:rPr>
              <a:t>我们的收入逻辑和合作逻辑都围绕“控制平面”展开，而不是围绕单次项目交付展开。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" y="1847088"/>
            <a:ext cx="4700016" cy="1243584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9264" y="1993392"/>
            <a:ext cx="43708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软件订阅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2377440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BE2EB"/>
                </a:solidFill>
                <a:latin typeface="Microsoft YaHei"/>
              </a:rPr>
              <a:t>按 company / seat / agent / deployment 组合收费，形成控制平面订阅收入。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47088"/>
            <a:ext cx="4700016" cy="1243584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993392"/>
            <a:ext cx="43708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企业部署与私有化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377440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BE2EB"/>
                </a:solidFill>
                <a:latin typeface="Microsoft YaHei"/>
              </a:rPr>
              <a:t>面向园区、产业平台或龙头客户的私有部署与实施收入。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" y="3474720"/>
            <a:ext cx="4700016" cy="1243584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621024"/>
            <a:ext cx="43708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适配器与生态服务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" y="4005072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BE2EB"/>
                </a:solidFill>
                <a:latin typeface="Microsoft YaHei"/>
              </a:rPr>
              <a:t>不同 agent 运行时、模板、插件与行业化集成形成附加收入。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474720"/>
            <a:ext cx="4700016" cy="1243584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3621024"/>
            <a:ext cx="437083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联合解决方案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005072"/>
            <a:ext cx="4370832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BE2EB"/>
                </a:solidFill>
                <a:latin typeface="Microsoft YaHei"/>
              </a:rPr>
              <a:t>与产业方面向重点行业共同推出“AI 公司样板方案”，获得项目与品牌协同。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" y="5340096"/>
            <a:ext cx="10131552" cy="713232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559552"/>
            <a:ext cx="9692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1" i="0">
                <a:solidFill>
                  <a:srgbClr val="FFFFFF"/>
                </a:solidFill>
                <a:latin typeface="Microsoft YaHei"/>
              </a:rPr>
              <a:t>原则：政策补贴不进入核心商业模型；补贴用于加速样板区建设，商业收入来自软件、部署、生态与联合方案。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这让战略合作具备财务纪律，也具备放大空间。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789920" y="0"/>
            <a:ext cx="1463040" cy="6858000"/>
          </a:xfrm>
          <a:prstGeom prst="rect">
            <a:avLst/>
          </a:prstGeom>
          <a:solidFill>
            <a:srgbClr val="EDF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4ADEFF"/>
                </a:solidFill>
                <a:latin typeface="Microsoft YaHei"/>
              </a:rPr>
              <a:t>NEXT 12 MONTHS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131C2A"/>
                </a:solidFill>
                <a:latin typeface="Microsoft YaHei"/>
              </a:rPr>
              <a:t>建议的合作里程碑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606A7D"/>
                </a:solidFill>
                <a:latin typeface="Microsoft YaHei"/>
              </a:rPr>
              <a:t>先做区域样板，再做行业复制，最后做平台标准。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" y="1975104"/>
            <a:ext cx="3090672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" y="1975104"/>
            <a:ext cx="3090672" cy="475488"/>
          </a:xfrm>
          <a:prstGeom prst="rect">
            <a:avLst/>
          </a:prstGeom>
          <a:solidFill>
            <a:srgbClr val="12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12140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0-3 个月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263347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31C2A"/>
                </a:solidFill>
                <a:latin typeface="Microsoft YaHei"/>
              </a:rPr>
              <a:t>样板区启动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3054096"/>
            <a:ext cx="257860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确定园区/社区承接点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联合设计训练营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完成首批 company 模板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975104"/>
            <a:ext cx="3090672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80559" y="1975104"/>
            <a:ext cx="3090672" cy="475488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212140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3-6 个月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39" y="263347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31C2A"/>
                </a:solidFill>
                <a:latin typeface="Microsoft YaHei"/>
              </a:rPr>
              <a:t>首批场景试点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0015" y="3054096"/>
            <a:ext cx="257860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导入 3-5 个真实场景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形成 board 级 demo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沉淀行业模板与 SOP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93023" y="1975104"/>
            <a:ext cx="3090672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93023" y="1975104"/>
            <a:ext cx="3090672" cy="475488"/>
          </a:xfrm>
          <a:prstGeom prst="rect">
            <a:avLst/>
          </a:prstGeom>
          <a:solidFill>
            <a:srgbClr val="FF6F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5" y="212140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Microsoft YaHei"/>
              </a:rPr>
              <a:t>6-12 个月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3" y="2633472"/>
            <a:ext cx="26517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31C2A"/>
                </a:solidFill>
                <a:latin typeface="Microsoft YaHei"/>
              </a:rPr>
              <a:t>复制与品牌化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9" y="3054096"/>
            <a:ext cx="2578608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扩到更多园区/被投企业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形成联合发布与区域案例</a:t>
            </a:r>
          </a:p>
          <a:p>
            <a:pPr>
              <a:defRPr sz="1120">
                <a:solidFill>
                  <a:srgbClr val="131C2A"/>
                </a:solidFill>
                <a:latin typeface="Microsoft YaHei"/>
              </a:defRPr>
            </a:pPr>
            <a:r>
              <a:t>为下一轮融资准备叙事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C8595"/>
                </a:solidFill>
                <a:latin typeface="Microsoft YaHei"/>
              </a:rPr>
              <a:t>里程碑设计的目标是尽快证明：区域样板可以跑成平台飞轮。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7C8595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32520" y="-365760"/>
            <a:ext cx="4023360" cy="7680960"/>
          </a:xfrm>
          <a:prstGeom prst="rect">
            <a:avLst/>
          </a:prstGeom>
          <a:solidFill>
            <a:srgbClr val="1F27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21040" y="4480560"/>
            <a:ext cx="4754880" cy="2651760"/>
          </a:xfrm>
          <a:prstGeom prst="rect">
            <a:avLst/>
          </a:prstGeom>
          <a:solidFill>
            <a:srgbClr val="4AD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3474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2EC4B6"/>
                </a:solidFill>
                <a:latin typeface="Microsoft YaHei"/>
              </a:rPr>
              <a:t>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49808"/>
            <a:ext cx="104241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Microsoft YaHei"/>
              </a:rPr>
              <a:t>我们希望一起定义“AI 公司基础设施”在海珠的首个样板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81328"/>
            <a:ext cx="9784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 i="0">
                <a:solidFill>
                  <a:srgbClr val="CAD3E2"/>
                </a:solidFill>
                <a:latin typeface="Microsoft YaHei"/>
              </a:rPr>
              <a:t>对我们来说，这轮沟通的重点不是简单融资金额，而是能否与产业方共同建立一个具备示范意义的区域案例。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011680"/>
            <a:ext cx="4956048" cy="841248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157984"/>
            <a:ext cx="4626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战略合作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2542032"/>
            <a:ext cx="4626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CE2EC"/>
                </a:solidFill>
                <a:latin typeface="Microsoft YaHei"/>
              </a:rPr>
              <a:t>共同定义海珠/园区样板区，联合推动训练营、入驻与场景试点。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4956048" cy="841248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55264"/>
            <a:ext cx="4626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客户导入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3639312"/>
            <a:ext cx="4626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CE2EC"/>
                </a:solidFill>
                <a:latin typeface="Microsoft YaHei"/>
              </a:rPr>
              <a:t>帮助连接园区企业、被投企业和重点行业客户，形成首批公司案例。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06240"/>
            <a:ext cx="4956048" cy="841248"/>
          </a:xfrm>
          <a:prstGeom prst="roundRect">
            <a:avLst>
              <a:gd name="adj" fmla="val 8000"/>
            </a:avLst>
          </a:prstGeom>
          <a:solidFill>
            <a:srgbClr val="1F273A"/>
          </a:solidFill>
          <a:ln>
            <a:solidFill>
              <a:srgbClr val="1F27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4352544"/>
            <a:ext cx="462686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Microsoft YaHei"/>
              </a:rPr>
              <a:t>品牌与资本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4736592"/>
            <a:ext cx="462686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0">
                <a:solidFill>
                  <a:srgbClr val="DCE2EC"/>
                </a:solidFill>
                <a:latin typeface="Microsoft YaHei"/>
              </a:rPr>
              <a:t>联合发布、行业背书与下一轮融资支持，帮助类别被市场认知。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975104"/>
            <a:ext cx="45720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2286000"/>
            <a:ext cx="14630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F61"/>
                </a:solidFill>
                <a:latin typeface="Microsoft YaHei"/>
              </a:rPr>
              <a:t>一句话总结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5176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31C2A"/>
                </a:solidFill>
                <a:latin typeface="Microsoft YaHei"/>
              </a:rPr>
              <a:t>当 AI 开始像公司一样运作，最先变成基础设施的，不是模型，而是控制平面。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4005072"/>
            <a:ext cx="38221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0">
                <a:solidFill>
                  <a:srgbClr val="606A7D"/>
                </a:solidFill>
                <a:latin typeface="Microsoft YaHei"/>
              </a:rPr>
              <a:t>海珠给了一个足够好的政策与产业窗口；产业投资方则能把这个窗口，放大成一个区域级样板。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19088"/>
            <a:ext cx="8778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B5C0D1"/>
                </a:solidFill>
                <a:latin typeface="Microsoft YaHei"/>
              </a:rPr>
              <a:t>Cyberpunk Company | AI Company Control Plane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64240" y="6355080"/>
            <a:ext cx="4114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1" i="0">
                <a:solidFill>
                  <a:srgbClr val="B5C0D1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